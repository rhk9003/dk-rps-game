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4300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📌 機率與數量分配（討論用主表）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>
                <a:solidFill>
                  <a:srgbClr val="D5D5D5"/>
                </a:solidFill>
                <a:latin typeface="Calibri"/>
              </a:defRPr>
            </a:pPr>
            <a:r>
              <a:t>DK 府中店滿月｜閨密機猜拳遊戲    ·    30 天 × 25 人/日 = 750 場    ·    贏率 50%    ·    券走 LINE bot 不限張數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Calibri"/>
              </a:defRPr>
            </a:pPr>
            <a:r>
              <a:t>🏆  贏家獎池    |    機率合計 100%    |    贏家場次 375 場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80160"/>
            <a:ext cx="11430000" cy="32004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280160"/>
            <a:ext cx="4114800" cy="32004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項目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280160"/>
            <a:ext cx="1645920" cy="32004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單價/面額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44768" y="1280160"/>
            <a:ext cx="1371600" cy="32004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機率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16368" y="1280160"/>
            <a:ext cx="1645920" cy="32004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數量上限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1280160"/>
            <a:ext cx="2651760" cy="32004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每日上限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1600200"/>
            <a:ext cx="11430000" cy="329184"/>
          </a:xfrm>
          <a:prstGeom prst="rect">
            <a:avLst/>
          </a:prstGeom>
          <a:solidFill>
            <a:srgbClr val="FFF2CC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1600200"/>
            <a:ext cx="411480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400" b="1">
                <a:solidFill>
                  <a:srgbClr val="242424"/>
                </a:solidFill>
                <a:latin typeface="Calibri"/>
              </a:defRPr>
            </a:pPr>
            <a:r>
              <a:t>A0220 DK 動態釋壓鞋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1600200"/>
            <a:ext cx="164592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$1,280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1600200"/>
            <a:ext cx="137160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1600200"/>
            <a:ext cx="164592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30 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2288" y="1600200"/>
            <a:ext cx="265176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每日 1 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1929384"/>
            <a:ext cx="11430000" cy="329184"/>
          </a:xfrm>
          <a:prstGeom prst="rect">
            <a:avLst/>
          </a:prstGeom>
          <a:solidFill>
            <a:srgbClr val="FFF9DE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1929384"/>
            <a:ext cx="411480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400" b="1">
                <a:solidFill>
                  <a:srgbClr val="242424"/>
                </a:solidFill>
                <a:latin typeface="Calibri"/>
              </a:defRPr>
            </a:pPr>
            <a:r>
              <a:t>A0119 五趾隱形襪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1929384"/>
            <a:ext cx="164592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$250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1929384"/>
            <a:ext cx="137160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6368" y="1929384"/>
            <a:ext cx="164592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60 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1929384"/>
            <a:ext cx="265176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每日 2 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2258568"/>
            <a:ext cx="11430000" cy="329184"/>
          </a:xfrm>
          <a:prstGeom prst="rect">
            <a:avLst/>
          </a:prstGeom>
          <a:solidFill>
            <a:srgbClr val="FFF2CC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2258568"/>
            <a:ext cx="411480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400" b="1">
                <a:solidFill>
                  <a:srgbClr val="242424"/>
                </a:solidFill>
                <a:latin typeface="Calibri"/>
              </a:defRPr>
            </a:pPr>
            <a:r>
              <a:t>LINE $500 官網抵用金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2258568"/>
            <a:ext cx="164592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$500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4768" y="2258568"/>
            <a:ext cx="137160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8" y="2258568"/>
            <a:ext cx="164592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不限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2288" y="2258568"/>
            <a:ext cx="265176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不限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" y="2587752"/>
            <a:ext cx="11430000" cy="329184"/>
          </a:xfrm>
          <a:prstGeom prst="rect">
            <a:avLst/>
          </a:prstGeom>
          <a:solidFill>
            <a:srgbClr val="FFF9DE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2587752"/>
            <a:ext cx="411480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400" b="1">
                <a:solidFill>
                  <a:srgbClr val="242424"/>
                </a:solidFill>
                <a:latin typeface="Calibri"/>
              </a:defRPr>
            </a:pPr>
            <a:r>
              <a:t>LINE 門市 7 折券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48" y="2587752"/>
            <a:ext cx="164592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7 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2587752"/>
            <a:ext cx="137160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16368" y="2587752"/>
            <a:ext cx="164592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不限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2587752"/>
            <a:ext cx="265176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不限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" y="2916936"/>
            <a:ext cx="11430000" cy="329184"/>
          </a:xfrm>
          <a:prstGeom prst="rect">
            <a:avLst/>
          </a:prstGeom>
          <a:solidFill>
            <a:srgbClr val="FFF2CC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2916936"/>
            <a:ext cx="411480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400" b="1">
                <a:solidFill>
                  <a:srgbClr val="242424"/>
                </a:solidFill>
                <a:latin typeface="Calibri"/>
              </a:defRPr>
            </a:pPr>
            <a:r>
              <a:t>LINE 門市 $500 折價券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98848" y="2916936"/>
            <a:ext cx="164592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$500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44768" y="2916936"/>
            <a:ext cx="137160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22%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16368" y="2916936"/>
            <a:ext cx="164592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不限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62288" y="2916936"/>
            <a:ext cx="265176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不限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048" y="3246120"/>
            <a:ext cx="11430000" cy="347472"/>
          </a:xfrm>
          <a:prstGeom prst="rect">
            <a:avLst/>
          </a:prstGeom>
          <a:solidFill>
            <a:srgbClr val="F4B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3246120"/>
            <a:ext cx="11064240" cy="347472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300" b="1">
                <a:solidFill>
                  <a:srgbClr val="242424"/>
                </a:solidFill>
                <a:latin typeface="Calibri"/>
              </a:defRPr>
            </a:pPr>
            <a:r>
              <a:t>贏家池 100%    ｜    實體上限 90 件（A0220×30 + A0119×60）    ｜    LINE 券不限張數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048" y="3685032"/>
            <a:ext cx="11430000" cy="41148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3685032"/>
            <a:ext cx="11430000" cy="41148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Calibri"/>
              </a:defRPr>
            </a:pPr>
            <a:r>
              <a:t>🎁  輸家獎 / 參加獎池    |    機率合計 100%    |    輸家場次 375 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" y="4096512"/>
            <a:ext cx="11430000" cy="32004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4048" y="4096512"/>
            <a:ext cx="4114800" cy="32004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項目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98848" y="4096512"/>
            <a:ext cx="1645920" cy="32004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單價/面額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44768" y="4096512"/>
            <a:ext cx="1371600" cy="32004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機率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16368" y="4096512"/>
            <a:ext cx="1645920" cy="32004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數量上限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62288" y="4096512"/>
            <a:ext cx="2651760" cy="32004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每日上限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4048" y="4416552"/>
            <a:ext cx="11430000" cy="329184"/>
          </a:xfrm>
          <a:prstGeom prst="rect">
            <a:avLst/>
          </a:prstGeom>
          <a:solidFill>
            <a:srgbClr val="DEEBF7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4048" y="4416552"/>
            <a:ext cx="411480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400" b="1">
                <a:solidFill>
                  <a:srgbClr val="242424"/>
                </a:solidFill>
                <a:latin typeface="Calibri"/>
              </a:defRPr>
            </a:pPr>
            <a:r>
              <a:t>A0003 石墨烯袖套 🎊 隱藏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98848" y="4416552"/>
            <a:ext cx="164592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$680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44768" y="4416552"/>
            <a:ext cx="137160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2.5%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16368" y="4416552"/>
            <a:ext cx="164592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10 件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62288" y="4416552"/>
            <a:ext cx="265176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抽完為止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4048" y="4745736"/>
            <a:ext cx="11430000" cy="329184"/>
          </a:xfrm>
          <a:prstGeom prst="rect">
            <a:avLst/>
          </a:prstGeom>
          <a:solidFill>
            <a:srgbClr val="EEF4FC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4048" y="4745736"/>
            <a:ext cx="411480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400" b="1">
                <a:solidFill>
                  <a:srgbClr val="242424"/>
                </a:solidFill>
                <a:latin typeface="Calibri"/>
              </a:defRPr>
            </a:pPr>
            <a:r>
              <a:t>A0114 涼感底紗襪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98848" y="4745736"/>
            <a:ext cx="164592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$180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44768" y="4745736"/>
            <a:ext cx="137160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16368" y="4745736"/>
            <a:ext cx="164592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60 件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62288" y="4745736"/>
            <a:ext cx="265176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每日 2 雙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4048" y="5074920"/>
            <a:ext cx="11430000" cy="329184"/>
          </a:xfrm>
          <a:prstGeom prst="rect">
            <a:avLst/>
          </a:prstGeom>
          <a:solidFill>
            <a:srgbClr val="DEEBF7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84048" y="5074920"/>
            <a:ext cx="411480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400" b="1">
                <a:solidFill>
                  <a:srgbClr val="242424"/>
                </a:solidFill>
                <a:latin typeface="Calibri"/>
              </a:defRPr>
            </a:pPr>
            <a:r>
              <a:t>LINE $50 官網抵用金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98848" y="5074920"/>
            <a:ext cx="164592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$50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44768" y="5074920"/>
            <a:ext cx="137160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16368" y="5074920"/>
            <a:ext cx="164592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不限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62288" y="5074920"/>
            <a:ext cx="265176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不限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4048" y="5404104"/>
            <a:ext cx="11430000" cy="329184"/>
          </a:xfrm>
          <a:prstGeom prst="rect">
            <a:avLst/>
          </a:prstGeom>
          <a:solidFill>
            <a:srgbClr val="EEF4FC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84048" y="5404104"/>
            <a:ext cx="411480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400" b="1">
                <a:solidFill>
                  <a:srgbClr val="242424"/>
                </a:solidFill>
                <a:latin typeface="Calibri"/>
              </a:defRPr>
            </a:pPr>
            <a:r>
              <a:t>LINE 門市 8 折券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98848" y="5404104"/>
            <a:ext cx="164592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8 折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44768" y="5404104"/>
            <a:ext cx="137160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27.5%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16368" y="5404104"/>
            <a:ext cx="164592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不限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62288" y="5404104"/>
            <a:ext cx="265176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不限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84048" y="5733288"/>
            <a:ext cx="11430000" cy="329184"/>
          </a:xfrm>
          <a:prstGeom prst="rect">
            <a:avLst/>
          </a:prstGeom>
          <a:solidFill>
            <a:srgbClr val="DEEBF7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84048" y="5733288"/>
            <a:ext cx="411480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400" b="1">
                <a:solidFill>
                  <a:srgbClr val="242424"/>
                </a:solidFill>
                <a:latin typeface="Calibri"/>
              </a:defRPr>
            </a:pPr>
            <a:r>
              <a:t>LINE 門市 $100 折價券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98848" y="5733288"/>
            <a:ext cx="164592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$100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44768" y="5733288"/>
            <a:ext cx="137160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516368" y="5733288"/>
            <a:ext cx="164592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不限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62288" y="5733288"/>
            <a:ext cx="265176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Calibri"/>
              </a:defRPr>
            </a:pPr>
            <a:r>
              <a:t>不限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4048" y="6062472"/>
            <a:ext cx="11430000" cy="347472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66928" y="6062472"/>
            <a:ext cx="11064240" cy="347472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300" b="1">
                <a:solidFill>
                  <a:srgbClr val="242424"/>
                </a:solidFill>
                <a:latin typeface="Calibri"/>
              </a:defRPr>
            </a:pPr>
            <a:r>
              <a:t>輸家池 100%    ｜    實體上限 70 件（A0003×10 + A0114×60）    ｜    LINE 券不限張數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4048" y="6455664"/>
            <a:ext cx="11430000" cy="27432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050" b="0">
                <a:solidFill>
                  <a:srgbClr val="777777"/>
                </a:solidFill>
                <a:latin typeface="Calibri"/>
              </a:defRPr>
            </a:pPr>
            <a:r>
              <a:t>門市券：限原價商品 · ~5/31 · 不得併用      A0003（稀有隱藏）抽完自動改發 A0114      實體優先用府中現貨，不足再調      實體成本上限 ≈ $71,000  /  LINE 券邊際成本 ≈ 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4300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🎫 優惠券使用規則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>
                <a:solidFill>
                  <a:srgbClr val="D5D5D5"/>
                </a:solidFill>
                <a:latin typeface="Calibri"/>
              </a:defRPr>
            </a:pPr>
            <a:r>
              <a:t>DK 府中店滿月｜閨密機猜拳遊戲    ·    所有券透過 LINE bot 自動發送、系統核銷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68680"/>
            <a:ext cx="5715000" cy="502920"/>
          </a:xfrm>
          <a:prstGeom prst="rect">
            <a:avLst/>
          </a:prstGeom>
          <a:solidFill>
            <a:srgbClr val="E8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868680"/>
            <a:ext cx="571500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Calibri"/>
              </a:defRPr>
            </a:pPr>
            <a:r>
              <a:t>💻  電商輪盤券（官網 / APP 使用）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463040"/>
            <a:ext cx="5715000" cy="1737360"/>
          </a:xfrm>
          <a:prstGeom prst="rect">
            <a:avLst/>
          </a:prstGeom>
          <a:solidFill>
            <a:srgbClr val="FDEDDC"/>
          </a:solidFill>
          <a:ln w="6350">
            <a:solidFill>
              <a:srgbClr val="E87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822960" cy="274320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600200"/>
            <a:ext cx="82296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100" b="1">
                <a:solidFill>
                  <a:srgbClr val="242424"/>
                </a:solidFill>
                <a:latin typeface="Calibri"/>
              </a:defRPr>
            </a:pPr>
            <a:r>
              <a:t>🎁 輸家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1554480"/>
            <a:ext cx="164592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3200" b="1">
                <a:solidFill>
                  <a:srgbClr val="E87A35"/>
                </a:solidFill>
                <a:latin typeface="Calibri"/>
              </a:defRPr>
            </a:pPr>
            <a:r>
              <a:t>$50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920240"/>
            <a:ext cx="534924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600" b="1">
                <a:solidFill>
                  <a:srgbClr val="242424"/>
                </a:solidFill>
                <a:latin typeface="Calibri"/>
              </a:defRPr>
            </a:pPr>
            <a:r>
              <a:t>DK 官網 $50 抵用金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331720"/>
            <a:ext cx="548640" cy="25603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E87A35"/>
                </a:solidFill>
                <a:latin typeface="Calibri"/>
              </a:defRPr>
            </a:pPr>
            <a:r>
              <a:t>適用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2331720"/>
            <a:ext cx="4754880" cy="25603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0">
                <a:solidFill>
                  <a:srgbClr val="242424"/>
                </a:solidFill>
                <a:latin typeface="Calibri"/>
              </a:defRPr>
            </a:pPr>
            <a:r>
              <a:t>DK 官網 / APP 購買鞋款、包類商品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2606040"/>
            <a:ext cx="548640" cy="25603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E87A35"/>
                </a:solidFill>
                <a:latin typeface="Calibri"/>
              </a:defRPr>
            </a:pPr>
            <a:r>
              <a:t>門檻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2606040"/>
            <a:ext cx="4754880" cy="25603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0">
                <a:solidFill>
                  <a:srgbClr val="242424"/>
                </a:solidFill>
                <a:latin typeface="Calibri"/>
              </a:defRPr>
            </a:pPr>
            <a:r>
              <a:t>單筆滿 $51 以上可折抵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2880360"/>
            <a:ext cx="548640" cy="25603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E87A35"/>
                </a:solidFill>
                <a:latin typeface="Calibri"/>
              </a:defRPr>
            </a:pPr>
            <a:r>
              <a:t>期限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" y="2880360"/>
            <a:ext cx="4754880" cy="25603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0">
                <a:solidFill>
                  <a:srgbClr val="242424"/>
                </a:solidFill>
                <a:latin typeface="Calibri"/>
              </a:defRPr>
            </a:pPr>
            <a:r>
              <a:t>即日起 ~ 2026/5/31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291840"/>
            <a:ext cx="5715000" cy="1737360"/>
          </a:xfrm>
          <a:prstGeom prst="rect">
            <a:avLst/>
          </a:prstGeom>
          <a:solidFill>
            <a:srgbClr val="FCE4CC"/>
          </a:solidFill>
          <a:ln w="6350">
            <a:solidFill>
              <a:srgbClr val="E87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3429000"/>
            <a:ext cx="822960" cy="274320"/>
          </a:xfrm>
          <a:prstGeom prst="rect">
            <a:avLst/>
          </a:prstGeom>
          <a:solidFill>
            <a:srgbClr val="F4B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429000"/>
            <a:ext cx="82296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100" b="1">
                <a:solidFill>
                  <a:srgbClr val="242424"/>
                </a:solidFill>
                <a:latin typeface="Calibri"/>
              </a:defRPr>
            </a:pPr>
            <a:r>
              <a:t>🏆 贏家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3383280"/>
            <a:ext cx="164592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defRPr sz="3200" b="1">
                <a:solidFill>
                  <a:srgbClr val="E87A35"/>
                </a:solidFill>
                <a:latin typeface="Calibri"/>
              </a:defRPr>
            </a:pPr>
            <a:r>
              <a:t>$500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749040"/>
            <a:ext cx="534924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600" b="1">
                <a:solidFill>
                  <a:srgbClr val="242424"/>
                </a:solidFill>
                <a:latin typeface="Calibri"/>
              </a:defRPr>
            </a:pPr>
            <a:r>
              <a:t>DK 官網 $500 抵用金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4160520"/>
            <a:ext cx="548640" cy="25603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E87A35"/>
                </a:solidFill>
                <a:latin typeface="Calibri"/>
              </a:defRPr>
            </a:pPr>
            <a:r>
              <a:t>適用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" y="4160520"/>
            <a:ext cx="4754880" cy="25603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0">
                <a:solidFill>
                  <a:srgbClr val="242424"/>
                </a:solidFill>
                <a:latin typeface="Calibri"/>
              </a:defRPr>
            </a:pPr>
            <a:r>
              <a:t>DK 官網 / APP 購買原價鞋款（不含拖鞋）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4434840"/>
            <a:ext cx="548640" cy="25603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E87A35"/>
                </a:solidFill>
                <a:latin typeface="Calibri"/>
              </a:defRPr>
            </a:pPr>
            <a:r>
              <a:t>門檻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1288" y="4434840"/>
            <a:ext cx="4754880" cy="25603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0">
                <a:solidFill>
                  <a:srgbClr val="242424"/>
                </a:solidFill>
                <a:latin typeface="Calibri"/>
              </a:defRPr>
            </a:pPr>
            <a:r>
              <a:t>單筆滿 $1,800 以上可折抵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4709160"/>
            <a:ext cx="548640" cy="25603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1">
                <a:solidFill>
                  <a:srgbClr val="E87A35"/>
                </a:solidFill>
                <a:latin typeface="Calibri"/>
              </a:defRPr>
            </a:pPr>
            <a:r>
              <a:t>期限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1288" y="4709160"/>
            <a:ext cx="4754880" cy="25603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00" b="0">
                <a:solidFill>
                  <a:srgbClr val="242424"/>
                </a:solidFill>
                <a:latin typeface="Calibri"/>
              </a:defRPr>
            </a:pPr>
            <a:r>
              <a:t>即日起 ~ 2026/5/31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45352" y="868680"/>
            <a:ext cx="5577840" cy="502920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5352" y="868680"/>
            <a:ext cx="557784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Calibri"/>
              </a:defRPr>
            </a:pPr>
            <a:r>
              <a:t>🏪  門市券（DK 實體店使用）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5352" y="1463040"/>
            <a:ext cx="55778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3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2" y="1463040"/>
            <a:ext cx="1005840" cy="6400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300" b="1">
                <a:solidFill>
                  <a:srgbClr val="3E8E5A"/>
                </a:solidFill>
                <a:latin typeface="Calibri"/>
              </a:defRPr>
            </a:pPr>
            <a:r>
              <a:t>通用規則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34072" y="1463040"/>
            <a:ext cx="4206240" cy="6400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250" b="0">
                <a:solidFill>
                  <a:srgbClr val="242424"/>
                </a:solidFill>
                <a:latin typeface="Calibri"/>
              </a:defRPr>
            </a:pPr>
            <a:r>
              <a:t>✓ 限原價商品使用    ✓ 即日起 ~ 2026/5/31    ✓ 不得與其他優惠併用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45352" y="2194560"/>
            <a:ext cx="5577840" cy="347472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45352" y="2194560"/>
            <a:ext cx="914400" cy="34747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獎池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59752" y="2194560"/>
            <a:ext cx="2103120" cy="34747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券名稱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62872" y="2194560"/>
            <a:ext cx="1188720" cy="34747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面額/折扣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51592" y="2194560"/>
            <a:ext cx="1371600" cy="34747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備註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45352" y="2542032"/>
            <a:ext cx="5577840" cy="457200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336792" y="2633472"/>
            <a:ext cx="731520" cy="274320"/>
          </a:xfrm>
          <a:prstGeom prst="roundRect">
            <a:avLst/>
          </a:prstGeom>
          <a:solidFill>
            <a:srgbClr val="F4B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45352" y="2542032"/>
            <a:ext cx="914400" cy="4572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200" b="1">
                <a:solidFill>
                  <a:srgbClr val="242424"/>
                </a:solidFill>
                <a:latin typeface="Calibri"/>
              </a:defRPr>
            </a:pPr>
            <a:r>
              <a:t>🏆 贏家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59752" y="2542032"/>
            <a:ext cx="2103120" cy="4572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400" b="1">
                <a:solidFill>
                  <a:srgbClr val="242424"/>
                </a:solidFill>
                <a:latin typeface="Calibri"/>
              </a:defRPr>
            </a:pPr>
            <a:r>
              <a:t>門市 7 折券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62872" y="2542032"/>
            <a:ext cx="1188720" cy="4572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800" b="1">
                <a:solidFill>
                  <a:srgbClr val="3E8E5A"/>
                </a:solidFill>
                <a:latin typeface="Calibri"/>
              </a:defRPr>
            </a:pPr>
            <a:r>
              <a:t>7 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51592" y="2542032"/>
            <a:ext cx="1371600" cy="4572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777777"/>
                </a:solidFill>
                <a:latin typeface="Calibri"/>
              </a:defRPr>
            </a:pPr>
            <a:r>
              <a:t>贏家池最大折扣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45352" y="2999232"/>
            <a:ext cx="5577840" cy="457200"/>
          </a:xfrm>
          <a:prstGeom prst="rect">
            <a:avLst/>
          </a:prstGeom>
          <a:solidFill>
            <a:srgbClr val="D0E6C1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36792" y="3090672"/>
            <a:ext cx="731520" cy="274320"/>
          </a:xfrm>
          <a:prstGeom prst="roundRect">
            <a:avLst/>
          </a:prstGeom>
          <a:solidFill>
            <a:srgbClr val="F4B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45352" y="2999232"/>
            <a:ext cx="914400" cy="4572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200" b="1">
                <a:solidFill>
                  <a:srgbClr val="242424"/>
                </a:solidFill>
                <a:latin typeface="Calibri"/>
              </a:defRPr>
            </a:pPr>
            <a:r>
              <a:t>🏆 贏家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59752" y="2999232"/>
            <a:ext cx="2103120" cy="4572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400" b="1">
                <a:solidFill>
                  <a:srgbClr val="242424"/>
                </a:solidFill>
                <a:latin typeface="Calibri"/>
              </a:defRPr>
            </a:pPr>
            <a:r>
              <a:t>門市 $500 折價券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62872" y="2999232"/>
            <a:ext cx="1188720" cy="4572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800" b="1">
                <a:solidFill>
                  <a:srgbClr val="3E8E5A"/>
                </a:solidFill>
                <a:latin typeface="Calibri"/>
              </a:defRPr>
            </a:pPr>
            <a:r>
              <a:t>$500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51592" y="2999232"/>
            <a:ext cx="1371600" cy="4572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777777"/>
                </a:solidFill>
                <a:latin typeface="Calibri"/>
              </a:defRPr>
            </a:pPr>
            <a:r>
              <a:t>贏家池現金折抵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45352" y="3456432"/>
            <a:ext cx="5577840" cy="457200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336792" y="3547872"/>
            <a:ext cx="731520" cy="274320"/>
          </a:xfrm>
          <a:prstGeom prst="roundRect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45352" y="3456432"/>
            <a:ext cx="914400" cy="4572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200" b="1">
                <a:solidFill>
                  <a:srgbClr val="242424"/>
                </a:solidFill>
                <a:latin typeface="Calibri"/>
              </a:defRPr>
            </a:pPr>
            <a:r>
              <a:t>🎁 輸家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59752" y="3456432"/>
            <a:ext cx="2103120" cy="4572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400" b="1">
                <a:solidFill>
                  <a:srgbClr val="242424"/>
                </a:solidFill>
                <a:latin typeface="Calibri"/>
              </a:defRPr>
            </a:pPr>
            <a:r>
              <a:t>門市 8 折券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62872" y="3456432"/>
            <a:ext cx="1188720" cy="4572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800" b="1">
                <a:solidFill>
                  <a:srgbClr val="3E8E5A"/>
                </a:solidFill>
                <a:latin typeface="Calibri"/>
              </a:defRPr>
            </a:pPr>
            <a:r>
              <a:t>8 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51592" y="3456432"/>
            <a:ext cx="1371600" cy="4572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777777"/>
                </a:solidFill>
                <a:latin typeface="Calibri"/>
              </a:defRPr>
            </a:pPr>
            <a:r>
              <a:t>輸家池大宗 27.5%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45352" y="3913632"/>
            <a:ext cx="5577840" cy="457200"/>
          </a:xfrm>
          <a:prstGeom prst="rect">
            <a:avLst/>
          </a:prstGeom>
          <a:solidFill>
            <a:srgbClr val="D0E6C1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336792" y="4005072"/>
            <a:ext cx="731520" cy="274320"/>
          </a:xfrm>
          <a:prstGeom prst="roundRect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45352" y="3913632"/>
            <a:ext cx="914400" cy="4572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200" b="1">
                <a:solidFill>
                  <a:srgbClr val="242424"/>
                </a:solidFill>
                <a:latin typeface="Calibri"/>
              </a:defRPr>
            </a:pPr>
            <a:r>
              <a:t>🎁 輸家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59752" y="3913632"/>
            <a:ext cx="2103120" cy="4572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400" b="1">
                <a:solidFill>
                  <a:srgbClr val="242424"/>
                </a:solidFill>
                <a:latin typeface="Calibri"/>
              </a:defRPr>
            </a:pPr>
            <a:r>
              <a:t>門市 $100 折價券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62872" y="3913632"/>
            <a:ext cx="1188720" cy="4572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defRPr sz="1800" b="1">
                <a:solidFill>
                  <a:srgbClr val="3E8E5A"/>
                </a:solidFill>
                <a:latin typeface="Calibri"/>
              </a:defRPr>
            </a:pPr>
            <a:r>
              <a:t>$100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51592" y="3913632"/>
            <a:ext cx="1371600" cy="4572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00" b="0">
                <a:solidFill>
                  <a:srgbClr val="777777"/>
                </a:solidFill>
                <a:latin typeface="Calibri"/>
              </a:defRPr>
            </a:pPr>
            <a:r>
              <a:t>輸家池最高機率 30%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4048" y="5989320"/>
            <a:ext cx="11430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961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2920" y="5989320"/>
            <a:ext cx="228600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400" b="1">
                <a:solidFill>
                  <a:srgbClr val="F96167"/>
                </a:solidFill>
                <a:latin typeface="Calibri"/>
              </a:defRPr>
            </a:pPr>
            <a:r>
              <a:t>📋 共同規定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60320" y="5989320"/>
            <a:ext cx="914400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defRPr sz="1150" b="0">
                <a:solidFill>
                  <a:srgbClr val="242424"/>
                </a:solidFill>
                <a:latin typeface="Calibri"/>
              </a:defRPr>
            </a:pPr>
            <a:r>
              <a:t>• LINE bot 發送、每個 LINE ID 綁一張、逾期自動失效    • 逾期無效、不得折抵現金、不得退換    • DK 高博士保留修改及解釋活動之權利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6629400"/>
            <a:ext cx="11430000" cy="1828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>
              <a:defRPr sz="800">
                <a:solidFill>
                  <a:srgbClr val="777777"/>
                </a:solidFill>
                <a:latin typeface="Calibri"/>
              </a:defRPr>
            </a:pPr>
            <a:r>
              <a:t>資料來源：府中店滿月_輪盤禮.docx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